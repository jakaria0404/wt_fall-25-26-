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7" r:id="rId4"/>
    <p:sldId id="276" r:id="rId5"/>
    <p:sldId id="278" r:id="rId6"/>
    <p:sldId id="279" r:id="rId7"/>
    <p:sldId id="280" r:id="rId8"/>
    <p:sldId id="266" r:id="rId9"/>
    <p:sldId id="258" r:id="rId10"/>
    <p:sldId id="269" r:id="rId11"/>
    <p:sldId id="270" r:id="rId12"/>
    <p:sldId id="271" r:id="rId13"/>
    <p:sldId id="272" r:id="rId14"/>
    <p:sldId id="273" r:id="rId15"/>
    <p:sldId id="281" r:id="rId16"/>
    <p:sldId id="274" r:id="rId17"/>
    <p:sldId id="282" r:id="rId18"/>
    <p:sldId id="275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84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6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04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300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5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0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8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14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3358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4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97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1757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8137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1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187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07-Sep-25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275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Network Switching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b="1" dirty="0"/>
              <a:t>COE 3201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Engineering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0508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</a:rPr>
                        <a:t>Lecture 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b="1" dirty="0"/>
              <a:t>Data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Switching Mechanism for Data Transfer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Circuit Switching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Message Switching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Packet Switching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Virtual Circuit Switching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Datagram Switching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D801-6AA5-E749-B306-40ADC9D4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25414-7B6B-4EAF-61D7-CED0DFBEE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30" y="1999376"/>
            <a:ext cx="8285287" cy="3992563"/>
          </a:xfrm>
        </p:spPr>
        <p:txBody>
          <a:bodyPr/>
          <a:lstStyle/>
          <a:p>
            <a:r>
              <a:rPr lang="en-US" dirty="0"/>
              <a:t>1. Bus Topology</a:t>
            </a:r>
          </a:p>
          <a:p>
            <a:r>
              <a:rPr lang="en-US" dirty="0"/>
              <a:t>2. Mesh Topology</a:t>
            </a:r>
          </a:p>
          <a:p>
            <a:r>
              <a:rPr lang="en-US" dirty="0"/>
              <a:t>3. Ring Topology</a:t>
            </a:r>
          </a:p>
          <a:p>
            <a:r>
              <a:rPr lang="en-US" dirty="0"/>
              <a:t>4. Start Topology</a:t>
            </a:r>
          </a:p>
        </p:txBody>
      </p:sp>
      <p:pic>
        <p:nvPicPr>
          <p:cNvPr id="9" name="Picture 8" descr="A diagram of a network&#10;&#10;AI-generated content may be incorrect.">
            <a:extLst>
              <a:ext uri="{FF2B5EF4-FFF2-40B4-BE49-F238E27FC236}">
                <a16:creationId xmlns:a16="http://schemas.microsoft.com/office/drawing/2014/main" id="{46489F36-346B-A3BA-1C21-15F5DD15B0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220" y="1761688"/>
            <a:ext cx="4454030" cy="2136583"/>
          </a:xfrm>
          <a:prstGeom prst="rect">
            <a:avLst/>
          </a:prstGeom>
        </p:spPr>
      </p:pic>
      <p:pic>
        <p:nvPicPr>
          <p:cNvPr id="11" name="Picture 10" descr="A person standing next to a computer network&#10;&#10;AI-generated content may be incorrect.">
            <a:extLst>
              <a:ext uri="{FF2B5EF4-FFF2-40B4-BE49-F238E27FC236}">
                <a16:creationId xmlns:a16="http://schemas.microsoft.com/office/drawing/2014/main" id="{38794A5A-01FB-C578-2188-CBBBC11F992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220" y="3898271"/>
            <a:ext cx="4454030" cy="289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7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09CA-7B00-C4C8-13E9-CDD8E10F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F741B-3D97-394A-6498-DC7FA6FC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117" y="2133600"/>
            <a:ext cx="8338133" cy="378063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Bus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central cable (backbone) connects all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travels in both directions along the cable.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Easy to set up.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Requires less cable than other topologies.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Cost-effective for small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cable length and number of nodes.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backbone fails, the entire network goes down.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Difficult to troubleshoot.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0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34B3-EA72-BA2C-E1E7-A0756EDA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E8B0-1CA7-3F0A-12DA-AF291620F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287" y="2133600"/>
            <a:ext cx="8010963" cy="387291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Mesh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device connects directly to every other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fault tolerance and redundancy.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Excellent reliability and data privacy.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Expensive due to cabling and hardware.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Complex setup and maintenance.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3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237A-FDE3-E1CA-E25A-43F4D98F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6CFCE-7F2B-CC6A-BF96-B8F2ED99D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29" y="2133600"/>
            <a:ext cx="8271021" cy="3992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Star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devices are connected to a central hub or switch.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passes through the hub to reach other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Easy to install and manage.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Failure of one device doesn’t affect the rest.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central hub fails, the whole network goes down.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Requires more cable than bus or 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77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FE31-952D-568F-7A72-DBB228D14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0027A-F8E7-7050-8DE9-496934304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7" y="2133600"/>
            <a:ext cx="8178743" cy="39925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Ring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device is connected to two others, forming a circular pathway.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travels in one direction (or both, in a dual ring).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Predictable data flow reduces collisions.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Performs better than bus under heavy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Disadvantages: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break in the ring can disrupt the entire network.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Adding or removing nodes can be complex.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40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kern="0" dirty="0">
                <a:latin typeface="Arial"/>
              </a:rPr>
              <a:t>Switching Mechanism for Data Transfer </a:t>
            </a:r>
            <a:endParaRPr lang="en-US" dirty="0">
              <a:latin typeface="Arial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</a:pPr>
            <a:r>
              <a:rPr lang="en-US" altLang="en-US" b="1" dirty="0"/>
              <a:t>Taxonomy of Switched Network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1" y="2202873"/>
            <a:ext cx="7991475" cy="1801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5" y="3886200"/>
            <a:ext cx="63817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Circuit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35494" y="1224576"/>
            <a:ext cx="8229600" cy="4986337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Dedicated communication path between two stations</a:t>
            </a:r>
          </a:p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Must have switching capacity and channel capacity to establish connection</a:t>
            </a:r>
          </a:p>
          <a:p>
            <a:pPr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Must have intelligence to work out routing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Inefficient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Channel capacity dedicated for the whole duration of connection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If no data, capacity wasted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Set up (connection) takes time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Developed for voice traffic (phone)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Examples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Telephone networks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ISDN (Integrated Services Digital Networks)</a:t>
            </a:r>
          </a:p>
          <a:p>
            <a:pPr>
              <a:lnSpc>
                <a:spcPct val="90000"/>
              </a:lnSpc>
            </a:pPr>
            <a:endParaRPr lang="en-US" altLang="en-US" sz="2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/>
              <a:t>Circuit Switching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952800" y="1503001"/>
            <a:ext cx="8171999" cy="5013325"/>
            <a:chOff x="192" y="866"/>
            <a:chExt cx="5687" cy="3158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688" y="1080"/>
              <a:ext cx="0" cy="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688" y="1117"/>
              <a:ext cx="0" cy="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73" y="1210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130" y="1306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73" y="1258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130" y="1355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73" y="1948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988" y="2221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673" y="2405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88" y="2686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6" name="AutoShape 15"/>
            <p:cNvSpPr>
              <a:spLocks noChangeArrowheads="1"/>
            </p:cNvSpPr>
            <p:nvPr/>
          </p:nvSpPr>
          <p:spPr bwMode="auto">
            <a:xfrm rot="5400000">
              <a:off x="2335" y="1505"/>
              <a:ext cx="1115" cy="3265"/>
            </a:xfrm>
            <a:prstGeom prst="parallelogram">
              <a:avLst>
                <a:gd name="adj" fmla="val 25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2400" i="1">
                  <a:solidFill>
                    <a:schemeClr val="bg2"/>
                  </a:solidFill>
                  <a:ea typeface="新細明體" pitchFamily="18" charset="-120"/>
                </a:rPr>
                <a:t>DATA</a:t>
              </a: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352" y="1872"/>
              <a:ext cx="2" cy="21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265" y="1764"/>
              <a:ext cx="0" cy="2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4530" y="1764"/>
              <a:ext cx="0" cy="2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0" name="AutoShape 19"/>
            <p:cNvSpPr>
              <a:spLocks noChangeArrowheads="1"/>
            </p:cNvSpPr>
            <p:nvPr/>
          </p:nvSpPr>
          <p:spPr bwMode="auto">
            <a:xfrm rot="16200000" flipH="1">
              <a:off x="2782" y="2187"/>
              <a:ext cx="232" cy="3265"/>
            </a:xfrm>
            <a:prstGeom prst="parallelogram">
              <a:avLst>
                <a:gd name="adj" fmla="val 8089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21" name="AutoShape 20"/>
            <p:cNvSpPr>
              <a:spLocks noChangeArrowheads="1"/>
            </p:cNvSpPr>
            <p:nvPr/>
          </p:nvSpPr>
          <p:spPr bwMode="auto">
            <a:xfrm rot="16200000" flipH="1">
              <a:off x="2802" y="863"/>
              <a:ext cx="192" cy="3265"/>
            </a:xfrm>
            <a:prstGeom prst="parallelogram">
              <a:avLst>
                <a:gd name="adj" fmla="val 79579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22" name="AutoShape 21"/>
            <p:cNvSpPr>
              <a:spLocks noChangeArrowheads="1"/>
            </p:cNvSpPr>
            <p:nvPr/>
          </p:nvSpPr>
          <p:spPr bwMode="auto">
            <a:xfrm rot="5400000">
              <a:off x="2840" y="1663"/>
              <a:ext cx="115" cy="1089"/>
            </a:xfrm>
            <a:prstGeom prst="parallelogram">
              <a:avLst>
                <a:gd name="adj" fmla="val 6388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23" name="AutoShape 22"/>
            <p:cNvSpPr>
              <a:spLocks noChangeArrowheads="1"/>
            </p:cNvSpPr>
            <p:nvPr/>
          </p:nvSpPr>
          <p:spPr bwMode="auto">
            <a:xfrm rot="5400000">
              <a:off x="1751" y="1548"/>
              <a:ext cx="116" cy="1088"/>
            </a:xfrm>
            <a:prstGeom prst="parallelogram">
              <a:avLst>
                <a:gd name="adj" fmla="val 6388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graphicFrame>
          <p:nvGraphicFramePr>
            <p:cNvPr id="24" name="Object 23"/>
            <p:cNvGraphicFramePr>
              <a:graphicFrameLocks noChangeAspect="1"/>
            </p:cNvGraphicFramePr>
            <p:nvPr/>
          </p:nvGraphicFramePr>
          <p:xfrm>
            <a:off x="192" y="866"/>
            <a:ext cx="5192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8280400" imgH="1153160" progId="Visio.Drawing.4">
                    <p:embed/>
                  </p:oleObj>
                </mc:Choice>
                <mc:Fallback>
                  <p:oleObj name="VISIO" r:id="rId3" imgW="8280400" imgH="1153160" progId="Visio.Drawing.4">
                    <p:embed/>
                    <p:pic>
                      <p:nvPicPr>
                        <p:cNvPr id="1640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866"/>
                          <a:ext cx="5192" cy="7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Group 24"/>
            <p:cNvGrpSpPr>
              <a:grpSpLocks/>
            </p:cNvGrpSpPr>
            <p:nvPr/>
          </p:nvGrpSpPr>
          <p:grpSpPr bwMode="auto">
            <a:xfrm>
              <a:off x="1099" y="2020"/>
              <a:ext cx="48" cy="1923"/>
              <a:chOff x="1152" y="2016"/>
              <a:chExt cx="48" cy="1920"/>
            </a:xfrm>
          </p:grpSpPr>
          <p:sp>
            <p:nvSpPr>
              <p:cNvPr id="44" name="AutoShape 25"/>
              <p:cNvSpPr>
                <a:spLocks/>
              </p:cNvSpPr>
              <p:nvPr/>
            </p:nvSpPr>
            <p:spPr bwMode="auto">
              <a:xfrm>
                <a:off x="1152" y="2016"/>
                <a:ext cx="48" cy="528"/>
              </a:xfrm>
              <a:prstGeom prst="leftBrace">
                <a:avLst>
                  <a:gd name="adj1" fmla="val 91667"/>
                  <a:gd name="adj2" fmla="val 36366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845" tIns="45924" rIns="91845" bIns="229630" anchor="ctr"/>
              <a:lstStyle>
                <a:lvl1pPr defTabSz="915988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59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5988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5988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5988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新細明體" pitchFamily="18" charset="-120"/>
                  </a:rPr>
                  <a:t>Set-up phase   </a:t>
                </a:r>
              </a:p>
            </p:txBody>
          </p:sp>
          <p:sp>
            <p:nvSpPr>
              <p:cNvPr id="45" name="AutoShape 26"/>
              <p:cNvSpPr>
                <a:spLocks/>
              </p:cNvSpPr>
              <p:nvPr/>
            </p:nvSpPr>
            <p:spPr bwMode="auto">
              <a:xfrm>
                <a:off x="1152" y="2592"/>
                <a:ext cx="48" cy="768"/>
              </a:xfrm>
              <a:prstGeom prst="leftBrace">
                <a:avLst>
                  <a:gd name="adj1" fmla="val 133333"/>
                  <a:gd name="adj2" fmla="val 36366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845" tIns="45924" rIns="91845" bIns="229630" anchor="ctr"/>
              <a:lstStyle>
                <a:lvl1pPr defTabSz="915988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59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5988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5988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5988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US" altLang="en-US" sz="1600" dirty="0">
                    <a:solidFill>
                      <a:schemeClr val="bg2"/>
                    </a:solidFill>
                    <a:latin typeface="新細明體" pitchFamily="18" charset="-120"/>
                  </a:rPr>
                  <a:t>  Data                  </a:t>
                </a:r>
                <a:br>
                  <a:rPr lang="en-US" altLang="en-US" sz="1600" dirty="0">
                    <a:solidFill>
                      <a:schemeClr val="bg2"/>
                    </a:solidFill>
                    <a:latin typeface="新細明體" pitchFamily="18" charset="-120"/>
                  </a:rPr>
                </a:br>
                <a:r>
                  <a:rPr lang="en-US" altLang="en-US" sz="1600" dirty="0">
                    <a:solidFill>
                      <a:schemeClr val="bg2"/>
                    </a:solidFill>
                    <a:latin typeface="新細明體" pitchFamily="18" charset="-120"/>
                  </a:rPr>
                  <a:t> Transfer phase     </a:t>
                </a:r>
              </a:p>
            </p:txBody>
          </p:sp>
          <p:sp>
            <p:nvSpPr>
              <p:cNvPr id="46" name="AutoShape 27"/>
              <p:cNvSpPr>
                <a:spLocks/>
              </p:cNvSpPr>
              <p:nvPr/>
            </p:nvSpPr>
            <p:spPr bwMode="auto">
              <a:xfrm>
                <a:off x="1152" y="3456"/>
                <a:ext cx="48" cy="480"/>
              </a:xfrm>
              <a:prstGeom prst="leftBrace">
                <a:avLst>
                  <a:gd name="adj1" fmla="val 83333"/>
                  <a:gd name="adj2" fmla="val 36366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845" tIns="45924" rIns="91845" bIns="229630" anchor="ctr"/>
              <a:lstStyle>
                <a:lvl1pPr defTabSz="915988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59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5988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5988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5988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新細明體" pitchFamily="18" charset="-120"/>
                  </a:rPr>
                  <a:t>Teardown phase      </a:t>
                </a:r>
              </a:p>
            </p:txBody>
          </p:sp>
        </p:grp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>
              <a:off x="1279" y="2026"/>
              <a:ext cx="33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>
              <a:off x="2345" y="2112"/>
              <a:ext cx="23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8" name="AutoShape 30"/>
            <p:cNvSpPr>
              <a:spLocks/>
            </p:cNvSpPr>
            <p:nvPr/>
          </p:nvSpPr>
          <p:spPr bwMode="auto">
            <a:xfrm>
              <a:off x="4656" y="2020"/>
              <a:ext cx="48" cy="96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74731" tIns="45786" rIns="91570" bIns="228943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chemeClr val="bg2"/>
                </a:solidFill>
                <a:latin typeface="新細明體" pitchFamily="18" charset="-120"/>
              </a:endParaRP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528" y="1010"/>
              <a:ext cx="492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3200" b="1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4759" y="1010"/>
              <a:ext cx="473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3200" b="1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31" name="Text Box 33"/>
            <p:cNvSpPr txBox="1">
              <a:spLocks noChangeArrowheads="1"/>
            </p:cNvSpPr>
            <p:nvPr/>
          </p:nvSpPr>
          <p:spPr bwMode="auto">
            <a:xfrm>
              <a:off x="2064" y="1106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Node 1</a:t>
              </a:r>
            </a:p>
          </p:txBody>
        </p:sp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3072" y="1106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Node 2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4728" y="1824"/>
              <a:ext cx="1151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propagation delay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between </a:t>
              </a:r>
              <a:r>
                <a:rPr lang="en-US" altLang="en-US" sz="1600" b="1">
                  <a:solidFill>
                    <a:schemeClr val="bg2"/>
                  </a:solidFill>
                </a:rPr>
                <a:t>A</a:t>
              </a:r>
              <a:r>
                <a:rPr lang="en-US" altLang="en-US" sz="1400">
                  <a:solidFill>
                    <a:schemeClr val="bg2"/>
                  </a:solidFill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and Node 1</a:t>
              </a:r>
            </a:p>
          </p:txBody>
        </p:sp>
        <p:sp>
          <p:nvSpPr>
            <p:cNvPr id="34" name="AutoShape 36"/>
            <p:cNvSpPr>
              <a:spLocks noChangeArrowheads="1"/>
            </p:cNvSpPr>
            <p:nvPr/>
          </p:nvSpPr>
          <p:spPr bwMode="auto">
            <a:xfrm rot="5400000">
              <a:off x="3928" y="1786"/>
              <a:ext cx="116" cy="1088"/>
            </a:xfrm>
            <a:prstGeom prst="parallelogram">
              <a:avLst>
                <a:gd name="adj" fmla="val 6388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4520" y="2410"/>
              <a:ext cx="138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>
              <a:off x="1267" y="2553"/>
              <a:ext cx="33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37" name="AutoShape 39"/>
            <p:cNvSpPr>
              <a:spLocks/>
            </p:cNvSpPr>
            <p:nvPr/>
          </p:nvSpPr>
          <p:spPr bwMode="auto">
            <a:xfrm>
              <a:off x="4674" y="2404"/>
              <a:ext cx="48" cy="137"/>
            </a:xfrm>
            <a:prstGeom prst="rightBrace">
              <a:avLst>
                <a:gd name="adj1" fmla="val 2378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74731" tIns="45786" rIns="91570" bIns="228943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endParaRPr lang="en-US" altLang="en-US" sz="1200" i="1">
                <a:solidFill>
                  <a:schemeClr val="bg2"/>
                </a:solidFill>
              </a:endParaRPr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4704" y="2278"/>
              <a:ext cx="1151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propagation delay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between </a:t>
              </a:r>
              <a:r>
                <a:rPr lang="en-US" altLang="en-US" sz="1600" b="1">
                  <a:solidFill>
                    <a:schemeClr val="bg2"/>
                  </a:solidFill>
                </a:rPr>
                <a:t>B</a:t>
              </a:r>
              <a:r>
                <a:rPr lang="en-US" altLang="en-US" sz="1400">
                  <a:solidFill>
                    <a:schemeClr val="bg2"/>
                  </a:solidFill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and </a:t>
              </a:r>
              <a:r>
                <a:rPr lang="en-US" altLang="en-US" sz="1800" b="1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V="1">
              <a:off x="2352" y="1728"/>
              <a:ext cx="38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 flipV="1">
              <a:off x="2352" y="1776"/>
              <a:ext cx="38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41" name="AutoShape 43"/>
            <p:cNvSpPr>
              <a:spLocks/>
            </p:cNvSpPr>
            <p:nvPr/>
          </p:nvSpPr>
          <p:spPr bwMode="auto">
            <a:xfrm>
              <a:off x="2736" y="1728"/>
              <a:ext cx="47" cy="72"/>
            </a:xfrm>
            <a:prstGeom prst="rightBrace">
              <a:avLst>
                <a:gd name="adj1" fmla="val 1276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74731" tIns="45786" rIns="91570" bIns="228943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chemeClr val="bg2"/>
                </a:solidFill>
                <a:latin typeface="新細明體" pitchFamily="18" charset="-120"/>
              </a:endParaRP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2658" y="1634"/>
              <a:ext cx="163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processing delay at Node 1</a:t>
              </a: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 flipH="1">
              <a:off x="3440" y="1864"/>
              <a:ext cx="0" cy="2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591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Message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35494" y="1475627"/>
            <a:ext cx="8229600" cy="3276482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1800" dirty="0">
                <a:solidFill>
                  <a:schemeClr val="bg2"/>
                </a:solidFill>
                <a:ea typeface="新細明體" pitchFamily="18" charset="-120"/>
              </a:rPr>
              <a:t>No dedicated path needs to be established between end-nodes. </a:t>
            </a:r>
          </a:p>
          <a:p>
            <a:pPr>
              <a:lnSpc>
                <a:spcPct val="80000"/>
              </a:lnSpc>
            </a:pPr>
            <a:r>
              <a:rPr lang="en-US" altLang="zh-TW" sz="1800" dirty="0">
                <a:solidFill>
                  <a:schemeClr val="bg2"/>
                </a:solidFill>
                <a:ea typeface="新細明體" pitchFamily="18" charset="-120"/>
              </a:rPr>
              <a:t>Source and destination node do not interact in real time. There is no need to determine the status of the destination node before sending the message.</a:t>
            </a:r>
          </a:p>
          <a:p>
            <a:pPr>
              <a:lnSpc>
                <a:spcPct val="80000"/>
              </a:lnSpc>
            </a:pPr>
            <a:r>
              <a:rPr lang="en-US" altLang="zh-TW" sz="1800" dirty="0">
                <a:solidFill>
                  <a:schemeClr val="bg2"/>
                </a:solidFill>
                <a:ea typeface="新細明體" pitchFamily="18" charset="-120"/>
              </a:rPr>
              <a:t>Each message is an independent entity and carries address information of the destination. There is no upper limit on the size of the message. 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zh-TW" sz="1800" dirty="0">
              <a:solidFill>
                <a:schemeClr val="bg2"/>
              </a:solidFill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endParaRPr lang="en-US" altLang="zh-TW" sz="1800" dirty="0">
              <a:solidFill>
                <a:schemeClr val="bg2"/>
              </a:solidFill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1800" dirty="0">
                <a:solidFill>
                  <a:schemeClr val="bg2"/>
                </a:solidFill>
                <a:ea typeface="新細明體" pitchFamily="18" charset="-120"/>
              </a:rPr>
              <a:t>The messages are stored at each node before being forwarded to the next node in the route. </a:t>
            </a:r>
          </a:p>
          <a:p>
            <a:pPr>
              <a:lnSpc>
                <a:spcPct val="80000"/>
              </a:lnSpc>
            </a:pPr>
            <a:r>
              <a:rPr lang="en-US" altLang="zh-TW" sz="1800" dirty="0">
                <a:solidFill>
                  <a:schemeClr val="bg2"/>
                </a:solidFill>
                <a:ea typeface="新細明體" pitchFamily="18" charset="-120"/>
              </a:rPr>
              <a:t>Message switching accept all traffic but offers longer delivery time than circuit switching. Circuit switching blocks/rejects access traffic.</a:t>
            </a:r>
          </a:p>
          <a:p>
            <a:pPr>
              <a:lnSpc>
                <a:spcPct val="80000"/>
              </a:lnSpc>
            </a:pPr>
            <a:endParaRPr lang="en-US" altLang="en-US" sz="2100" dirty="0">
              <a:solidFill>
                <a:schemeClr val="bg2"/>
              </a:solidFill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447800" y="3656806"/>
            <a:ext cx="5033963" cy="458788"/>
            <a:chOff x="1057" y="2063"/>
            <a:chExt cx="3171" cy="289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057" y="2063"/>
              <a:ext cx="818" cy="289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1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91570" tIns="45786" rIns="91570" bIns="45786" anchor="ctr">
              <a:flatTx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1600">
                  <a:ea typeface="新細明體" pitchFamily="18" charset="-120"/>
                </a:rPr>
                <a:t>Header</a:t>
              </a:r>
              <a:endParaRPr lang="en-US" altLang="zh-TW" sz="2400" i="1">
                <a:ea typeface="新細明體" pitchFamily="18" charset="-120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873" y="2063"/>
              <a:ext cx="2355" cy="289"/>
            </a:xfrm>
            <a:prstGeom prst="rect">
              <a:avLst/>
            </a:prstGeom>
            <a:solidFill>
              <a:srgbClr val="99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1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  <a:contourClr>
                <a:srgbClr val="99CCFF"/>
              </a:contourClr>
            </a:sp3d>
          </p:spPr>
          <p:txBody>
            <a:bodyPr wrap="none" lIns="91570" tIns="45786" rIns="91570" bIns="45786" anchor="ctr">
              <a:flatTx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1600">
                  <a:ea typeface="新細明體" pitchFamily="18" charset="-120"/>
                </a:rPr>
                <a:t>Data</a:t>
              </a:r>
              <a:endParaRPr lang="en-US" altLang="zh-TW" sz="1800" i="1"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975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Packet Switching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719263"/>
            <a:ext cx="8229600" cy="498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Messages are broken into small segments of bit-sequences and they are called packets. As packets are restricted to a specific size, they can be routed more rapidly.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Packets have the following structure: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新細明體" pitchFamily="18" charset="-12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新細明體" pitchFamily="18" charset="-120"/>
            </a:endParaRPr>
          </a:p>
          <a:p>
            <a:pPr marL="987425" marR="0" lvl="2" indent="-293688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CC00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新細明體" pitchFamily="18" charset="-120"/>
            </a:endParaRPr>
          </a:p>
          <a:p>
            <a:pPr marL="987425" marR="0" lvl="2" indent="-293688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CC00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Header carries control information (e.g., destination id, source id, message id, packet id, control info)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新細明體" pitchFamily="18" charset="-12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Each packet is passed through the network from node to node along some path (</a:t>
            </a:r>
            <a:r>
              <a:rPr kumimoji="0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Routing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新細明體" pitchFamily="18" charset="-12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At each node the entire packet is received, stored briefly, and then forwarded to the next node (</a:t>
            </a:r>
            <a:r>
              <a:rPr kumimoji="0" lang="en-US" altLang="zh-TW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Store-and-Forward Networks</a:t>
            </a: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新細明體" pitchFamily="18" charset="-12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新細明體" pitchFamily="18" charset="-120"/>
              </a:rPr>
              <a:t>Typically no storage is required at nodes/switches for packets.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1524000" y="2971006"/>
            <a:ext cx="5037138" cy="458788"/>
            <a:chOff x="1057" y="1823"/>
            <a:chExt cx="3173" cy="289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057" y="1823"/>
              <a:ext cx="818" cy="289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1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91570" tIns="45786" rIns="91570" bIns="45786" anchor="ctr">
              <a:flatTx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1600">
                  <a:ea typeface="新細明體" pitchFamily="18" charset="-120"/>
                </a:rPr>
                <a:t>Header</a:t>
              </a:r>
              <a:endParaRPr lang="en-US" altLang="zh-TW" sz="2400" i="1">
                <a:ea typeface="新細明體" pitchFamily="18" charset="-120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875" y="1823"/>
              <a:ext cx="2355" cy="289"/>
            </a:xfrm>
            <a:prstGeom prst="rect">
              <a:avLst/>
            </a:prstGeom>
            <a:solidFill>
              <a:srgbClr val="99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1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  <a:contourClr>
                <a:srgbClr val="99CCFF"/>
              </a:contourClr>
            </a:sp3d>
          </p:spPr>
          <p:txBody>
            <a:bodyPr wrap="none" lIns="91570" tIns="45786" rIns="91570" bIns="45786" anchor="ctr">
              <a:flatTx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1600" dirty="0">
                  <a:ea typeface="新細明體" pitchFamily="18" charset="-120"/>
                </a:rPr>
                <a:t>Data</a:t>
              </a:r>
              <a:endParaRPr lang="en-US" altLang="zh-TW" sz="1800" i="1" dirty="0"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127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prstClr val="black"/>
                </a:solidFill>
              </a:rPr>
              <a:t>Packet Switching Advantages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95745" y="2578245"/>
            <a:ext cx="8229600" cy="498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Packetization</a:t>
            </a: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allows short messages to get through a transmission link without waiting behind long messages.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Line efficiency</a:t>
            </a:r>
          </a:p>
          <a:p>
            <a:pPr marL="692150" marR="0" lvl="1" indent="-3476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Single node to node link can be shared by many packets over time</a:t>
            </a:r>
          </a:p>
          <a:p>
            <a:pPr marL="692150" marR="0" lvl="1" indent="-3476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Packets queued and transmitted as fast as possible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Packets are accepted even when network is busy</a:t>
            </a:r>
          </a:p>
          <a:p>
            <a:pPr marL="692150" marR="0" lvl="1" indent="-347663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Delivery may slow down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Priorities can be used</a:t>
            </a:r>
          </a:p>
        </p:txBody>
      </p:sp>
    </p:spTree>
    <p:extLst>
      <p:ext uri="{BB962C8B-B14F-4D97-AF65-F5344CB8AC3E}">
        <p14:creationId xmlns:p14="http://schemas.microsoft.com/office/powerpoint/2010/main" val="202855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prstClr val="black"/>
                </a:solidFill>
              </a:rPr>
              <a:t>Datagram packet switching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066987" y="1795817"/>
            <a:ext cx="254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FI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Modify as appropriate…..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0"/>
          <a:stretch>
            <a:fillRect/>
          </a:stretch>
        </p:blipFill>
        <p:spPr>
          <a:xfrm>
            <a:off x="304800" y="1719263"/>
            <a:ext cx="3714750" cy="4986337"/>
          </a:xfrm>
          <a:prstGeom prst="rect">
            <a:avLst/>
          </a:prstGeom>
          <a:noFill/>
        </p:spPr>
      </p:pic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4343400" y="1719263"/>
            <a:ext cx="4572000" cy="498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Each packet is independently switched</a:t>
            </a:r>
          </a:p>
          <a:p>
            <a:pPr marL="692150" marR="0" lvl="1" indent="-3476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9999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each packet header contains destination address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 resources are pre-allocated (reserved) in advance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Routes may change during session</a:t>
            </a:r>
          </a:p>
        </p:txBody>
      </p:sp>
    </p:spTree>
    <p:extLst>
      <p:ext uri="{BB962C8B-B14F-4D97-AF65-F5344CB8AC3E}">
        <p14:creationId xmlns:p14="http://schemas.microsoft.com/office/powerpoint/2010/main" val="23775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23DDC-7811-17FE-4152-1BDABB3FF7D8}"/>
              </a:ext>
            </a:extLst>
          </p:cNvPr>
          <p:cNvSpPr txBox="1"/>
          <p:nvPr/>
        </p:nvSpPr>
        <p:spPr>
          <a:xfrm>
            <a:off x="490756" y="96035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Calibri-Bold"/>
              </a:rPr>
              <a:t>Delay in datagram network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diagram of a data diagram&#10;&#10;AI-generated content may be incorrect.">
            <a:extLst>
              <a:ext uri="{FF2B5EF4-FFF2-40B4-BE49-F238E27FC236}">
                <a16:creationId xmlns:a16="http://schemas.microsoft.com/office/drawing/2014/main" id="{4DBAE777-A365-3395-BE05-34AA36AF86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84" y="1283515"/>
            <a:ext cx="7125317" cy="3482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B1EE7B-09AD-3A7B-C84D-9464D15D7895}"/>
              </a:ext>
            </a:extLst>
          </p:cNvPr>
          <p:cNvSpPr txBox="1"/>
          <p:nvPr/>
        </p:nvSpPr>
        <p:spPr>
          <a:xfrm>
            <a:off x="900284" y="4951614"/>
            <a:ext cx="77136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There are three transmission times (3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NewRomanPS-ItalicMT"/>
              </a:rPr>
              <a:t>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), three propagation delays (slopes 3</a:t>
            </a:r>
            <a:r>
              <a:rPr lang="en-US" dirty="0">
                <a:solidFill>
                  <a:srgbClr val="000000"/>
                </a:solidFill>
                <a:latin typeface="SymbolMT"/>
              </a:rPr>
              <a:t>π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SymbolMT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of the lines), and two waiting times (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NewRomanPS-ItalicMT"/>
              </a:rPr>
              <a:t>w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1 +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NewRomanPS-ItalicMT"/>
              </a:rPr>
              <a:t>w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2). We ignore the processing time in each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switch.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The total delay = 3 T + 3 </a:t>
            </a:r>
            <a:r>
              <a:rPr lang="en-US" dirty="0">
                <a:solidFill>
                  <a:srgbClr val="000000"/>
                </a:solidFill>
                <a:latin typeface="SymbolMT"/>
              </a:rPr>
              <a:t>π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SymbolMT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+ w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NewRomanPSMT"/>
              </a:rPr>
              <a:t>1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+ w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imesNewRomanPSMT"/>
              </a:rPr>
              <a:t>2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0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prstClr val="black"/>
                </a:solidFill>
              </a:rPr>
              <a:t>Virtual-Circuit Packet Switching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4658" y="1364790"/>
            <a:ext cx="4572000" cy="4986337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Preplanned route established before any packets sent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Call request and call accept packets establish connection (handshake)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Communication with virtual circuits takes place in three phases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VC establishment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data transfer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VC disconnect</a:t>
            </a:r>
            <a:endParaRPr lang="en-US" altLang="en-US" sz="2000" dirty="0">
              <a:solidFill>
                <a:schemeClr val="bg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b="1" i="1" u="sng" dirty="0">
                <a:solidFill>
                  <a:schemeClr val="bg2"/>
                </a:solidFill>
              </a:rPr>
              <a:t>Note:</a:t>
            </a:r>
            <a:r>
              <a:rPr lang="en-US" altLang="en-US" sz="2000" dirty="0">
                <a:solidFill>
                  <a:schemeClr val="bg2"/>
                </a:solidFill>
              </a:rPr>
              <a:t> packet headers don’t need to contain the full destination address of the packet 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5"/>
          <a:stretch>
            <a:fillRect/>
          </a:stretch>
        </p:blipFill>
        <p:spPr>
          <a:xfrm>
            <a:off x="4935538" y="1364790"/>
            <a:ext cx="3751262" cy="4986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4827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D54E30-B13C-C5AE-0C65-6A239EDB635F}"/>
              </a:ext>
            </a:extLst>
          </p:cNvPr>
          <p:cNvSpPr txBox="1"/>
          <p:nvPr/>
        </p:nvSpPr>
        <p:spPr>
          <a:xfrm>
            <a:off x="197141" y="84290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00000"/>
                </a:solidFill>
                <a:effectLst/>
                <a:latin typeface="Calibri-Bold"/>
              </a:rPr>
              <a:t>Delay in a virtual-circuit network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05197AA1-7E4B-8D42-EE5F-0417392933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50" y="1343193"/>
            <a:ext cx="7165079" cy="3391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6429EE-5337-8D30-DA29-86227B2F014D}"/>
              </a:ext>
            </a:extLst>
          </p:cNvPr>
          <p:cNvSpPr txBox="1"/>
          <p:nvPr/>
        </p:nvSpPr>
        <p:spPr>
          <a:xfrm>
            <a:off x="373309" y="5050172"/>
            <a:ext cx="8107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There are three transmission times (3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NewRomanPS-ItalicMT"/>
              </a:rPr>
              <a:t>T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), three propagation times (3</a:t>
            </a:r>
            <a:r>
              <a:rPr lang="en-US" dirty="0">
                <a:solidFill>
                  <a:srgbClr val="000000"/>
                </a:solidFill>
                <a:latin typeface="SymbolMT"/>
              </a:rPr>
              <a:t>π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),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A setup delay, and a teardown delay. We ignore the processing time in each switch.</a:t>
            </a:r>
          </a:p>
          <a:p>
            <a:pPr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The total delay time is</a:t>
            </a:r>
          </a:p>
          <a:p>
            <a:pPr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TimesNewRomanPS-BoldMT"/>
              </a:rPr>
              <a:t>Total delay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=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NewRomanPS-BoldMT"/>
              </a:rPr>
              <a:t>3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TimesNewRomanPS-BoldItalicMT"/>
              </a:rPr>
              <a:t>T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+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NewRomanPS-BoldMT"/>
              </a:rPr>
              <a:t>3</a:t>
            </a:r>
            <a:r>
              <a:rPr lang="en-US" dirty="0">
                <a:solidFill>
                  <a:srgbClr val="000000"/>
                </a:solidFill>
                <a:latin typeface="SymbolMT"/>
              </a:rPr>
              <a:t>π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SymbolMT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+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NewRomanPS-BoldMT"/>
              </a:rPr>
              <a:t>setup delay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NewRomanPSMT"/>
              </a:rPr>
              <a:t>+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NewRomanPS-BoldMT"/>
              </a:rPr>
              <a:t>teardown delay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52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062833" cy="90367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b="1" dirty="0"/>
              <a:t>Datagram vs. Virtual-Circuits</a:t>
            </a:r>
            <a:br>
              <a:rPr lang="en-US" altLang="en-US" b="1" dirty="0"/>
            </a:br>
            <a:r>
              <a:rPr lang="en-US" altLang="en-US" b="1" dirty="0">
                <a:solidFill>
                  <a:schemeClr val="bg2"/>
                </a:solidFill>
              </a:rPr>
              <a:t>Packet Switching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Group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0988270"/>
              </p:ext>
            </p:extLst>
          </p:nvPr>
        </p:nvGraphicFramePr>
        <p:xfrm>
          <a:off x="457200" y="1719263"/>
          <a:ext cx="8229600" cy="47882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Datagram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Virtual circuits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066">
                <a:tc>
                  <a:txBody>
                    <a:bodyPr/>
                    <a:lstStyle/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No call setup phase</a:t>
                      </a:r>
                    </a:p>
                    <a:p>
                      <a:pPr marL="741363" marR="0" lvl="1" indent="-2841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Better if few packets</a:t>
                      </a:r>
                    </a:p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More flexible</a:t>
                      </a:r>
                    </a:p>
                    <a:p>
                      <a:pPr marL="741363" marR="0" lvl="1" indent="-2841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Routing can be used to avoid congested parts of the network</a:t>
                      </a:r>
                    </a:p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Network can provide sequencing and error control</a:t>
                      </a: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Packets are forwarded more quickly</a:t>
                      </a:r>
                    </a:p>
                    <a:p>
                      <a:pPr marL="741363" marR="0" lvl="1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No routing decisions to make</a:t>
                      </a: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Less reliable</a:t>
                      </a:r>
                    </a:p>
                    <a:p>
                      <a:pPr marL="741363" marR="0" lvl="1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Loss of a node looses all circuits through that node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349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7688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  <a:p>
            <a:endParaRPr lang="en-FI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7915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Prakash C. Gupta, “Data communications”, Prentice Hall India Pvt.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2. William Stallings, "Data and Computer Communications”, Pearson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3.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EE">
  <a:themeElements>
    <a:clrScheme name="Custom 11">
      <a:dk1>
        <a:srgbClr val="FF6600"/>
      </a:dk1>
      <a:lt1>
        <a:srgbClr val="FEF2E6"/>
      </a:lt1>
      <a:dk2>
        <a:srgbClr val="FFA347"/>
      </a:dk2>
      <a:lt2>
        <a:srgbClr val="000000"/>
      </a:lt2>
      <a:accent1>
        <a:srgbClr val="FFFF00"/>
      </a:accent1>
      <a:accent2>
        <a:srgbClr val="FFA347"/>
      </a:accent2>
      <a:accent3>
        <a:srgbClr val="FF6600"/>
      </a:accent3>
      <a:accent4>
        <a:srgbClr val="FF660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EEE" id="{7085EFE6-1651-4882-93F2-4A2A6E95977E}" vid="{54A24EE4-6E88-485C-AF6E-3EB622AD36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ThemeEEE</Template>
  <TotalTime>112</TotalTime>
  <Words>1025</Words>
  <Application>Microsoft Office PowerPoint</Application>
  <PresentationFormat>On-screen Show (4:3)</PresentationFormat>
  <Paragraphs>173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新細明體</vt:lpstr>
      <vt:lpstr>Arial</vt:lpstr>
      <vt:lpstr>Calibri</vt:lpstr>
      <vt:lpstr>Calibri-Bold</vt:lpstr>
      <vt:lpstr>Corbel</vt:lpstr>
      <vt:lpstr>SymbolMT</vt:lpstr>
      <vt:lpstr>TimesNewRomanPS-BoldItalicMT</vt:lpstr>
      <vt:lpstr>TimesNewRomanPS-BoldMT</vt:lpstr>
      <vt:lpstr>TimesNewRomanPS-ItalicMT</vt:lpstr>
      <vt:lpstr>TimesNewRomanPSMT</vt:lpstr>
      <vt:lpstr>Wingdings</vt:lpstr>
      <vt:lpstr>ThemeEEE</vt:lpstr>
      <vt:lpstr>VISIO</vt:lpstr>
      <vt:lpstr>Network Switching</vt:lpstr>
      <vt:lpstr>Lecture Outline</vt:lpstr>
      <vt:lpstr>Network Topology</vt:lpstr>
      <vt:lpstr>Bus Topology</vt:lpstr>
      <vt:lpstr>Mesh Topology</vt:lpstr>
      <vt:lpstr>Start Topology</vt:lpstr>
      <vt:lpstr>Ring Topology</vt:lpstr>
      <vt:lpstr>Switching Mechanism for Data Transfer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Sadman Shahriar Alam</cp:lastModifiedBy>
  <cp:revision>34</cp:revision>
  <dcterms:created xsi:type="dcterms:W3CDTF">2018-12-10T17:20:29Z</dcterms:created>
  <dcterms:modified xsi:type="dcterms:W3CDTF">2025-09-07T02:05:17Z</dcterms:modified>
</cp:coreProperties>
</file>