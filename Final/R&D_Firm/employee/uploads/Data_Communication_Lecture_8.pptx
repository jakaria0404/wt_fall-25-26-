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1"/>
  </p:notesMasterIdLst>
  <p:sldIdLst>
    <p:sldId id="256" r:id="rId2"/>
    <p:sldId id="257" r:id="rId3"/>
    <p:sldId id="299" r:id="rId4"/>
    <p:sldId id="300" r:id="rId5"/>
    <p:sldId id="301" r:id="rId6"/>
    <p:sldId id="302" r:id="rId7"/>
    <p:sldId id="336" r:id="rId8"/>
    <p:sldId id="337" r:id="rId9"/>
    <p:sldId id="339" r:id="rId10"/>
    <p:sldId id="340" r:id="rId11"/>
    <p:sldId id="335" r:id="rId12"/>
    <p:sldId id="338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2" r:id="rId22"/>
    <p:sldId id="314" r:id="rId23"/>
    <p:sldId id="313" r:id="rId24"/>
    <p:sldId id="315" r:id="rId25"/>
    <p:sldId id="316" r:id="rId26"/>
    <p:sldId id="328" r:id="rId27"/>
    <p:sldId id="317" r:id="rId28"/>
    <p:sldId id="329" r:id="rId29"/>
    <p:sldId id="318" r:id="rId30"/>
    <p:sldId id="323" r:id="rId31"/>
    <p:sldId id="320" r:id="rId32"/>
    <p:sldId id="321" r:id="rId33"/>
    <p:sldId id="322" r:id="rId34"/>
    <p:sldId id="325" r:id="rId35"/>
    <p:sldId id="324" r:id="rId36"/>
    <p:sldId id="326" r:id="rId37"/>
    <p:sldId id="327" r:id="rId38"/>
    <p:sldId id="264" r:id="rId39"/>
    <p:sldId id="330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man Shahriar Alam" userId="35c64291-5bcb-4b80-9658-6c964f181bd5" providerId="ADAL" clId="{5254E828-7D29-40A0-A89D-AFA1D02D70BA}"/>
    <pc:docChg chg="modSld">
      <pc:chgData name="Sadman Shahriar Alam" userId="35c64291-5bcb-4b80-9658-6c964f181bd5" providerId="ADAL" clId="{5254E828-7D29-40A0-A89D-AFA1D02D70BA}" dt="2023-07-19T02:23:18.653" v="50" actId="20577"/>
      <pc:docMkLst>
        <pc:docMk/>
      </pc:docMkLst>
      <pc:sldChg chg="modSp">
        <pc:chgData name="Sadman Shahriar Alam" userId="35c64291-5bcb-4b80-9658-6c964f181bd5" providerId="ADAL" clId="{5254E828-7D29-40A0-A89D-AFA1D02D70BA}" dt="2023-07-19T02:23:18.653" v="50" actId="20577"/>
        <pc:sldMkLst>
          <pc:docMk/>
          <pc:sldMk cId="1108689428" sldId="321"/>
        </pc:sldMkLst>
        <pc:spChg chg="mod">
          <ac:chgData name="Sadman Shahriar Alam" userId="35c64291-5bcb-4b80-9658-6c964f181bd5" providerId="ADAL" clId="{5254E828-7D29-40A0-A89D-AFA1D02D70BA}" dt="2023-07-19T02:23:18.653" v="50" actId="20577"/>
          <ac:spMkLst>
            <pc:docMk/>
            <pc:sldMk cId="1108689428" sldId="321"/>
            <ac:spMk id="12" creationId="{6BAFA2D6-4AE0-4CD1-8286-7AE253C2C0E4}"/>
          </ac:spMkLst>
        </pc:spChg>
      </pc:sldChg>
    </pc:docChg>
  </pc:docChgLst>
  <pc:docChgLst>
    <pc:chgData name="Sadman Shahriar Alam" userId="35c64291-5bcb-4b80-9658-6c964f181bd5" providerId="ADAL" clId="{0521C017-091E-4D0F-84F8-2F1B5EA2EADD}"/>
    <pc:docChg chg="delSld">
      <pc:chgData name="Sadman Shahriar Alam" userId="35c64291-5bcb-4b80-9658-6c964f181bd5" providerId="ADAL" clId="{0521C017-091E-4D0F-84F8-2F1B5EA2EADD}" dt="2023-09-24T15:30:04.080" v="0" actId="2696"/>
      <pc:docMkLst>
        <pc:docMk/>
      </pc:docMkLst>
      <pc:sldChg chg="del">
        <pc:chgData name="Sadman Shahriar Alam" userId="35c64291-5bcb-4b80-9658-6c964f181bd5" providerId="ADAL" clId="{0521C017-091E-4D0F-84F8-2F1B5EA2EADD}" dt="2023-09-24T15:30:04.080" v="0" actId="2696"/>
        <pc:sldMkLst>
          <pc:docMk/>
          <pc:sldMk cId="4066196669" sldId="3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DA543-DB37-4C16-9121-2AD21CF4117B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12C81-9B47-4361-A704-C0D2C6C0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26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753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78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45455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0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793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0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75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338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27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39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38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08765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7296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67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8693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614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19345"/>
            <a:ext cx="7808976" cy="1088136"/>
          </a:xfrm>
        </p:spPr>
        <p:txBody>
          <a:bodyPr>
            <a:noAutofit/>
          </a:bodyPr>
          <a:lstStyle/>
          <a:p>
            <a:r>
              <a:rPr lang="en-US" sz="3600" dirty="0"/>
              <a:t>Analog Transmission and Bandwidth Utilization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Engineering</a:t>
            </a:r>
          </a:p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91583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Data Communication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QAM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Analog to Analog Conversion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Amplitude Modulation (AM)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Frequency Modulation (FM)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Phase Modulation (pp)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Multiplexing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Frequency-Division Multiplexing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sz="2800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QAM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PSK is limited by the ability of the equipment to distinguish small differences in phase.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This factor limits its potential bit rate.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So far, we have been altering only one of the three characteristics of a sine wave at a time; but what if we alter two? Why not combine ASK and PSK?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idea of using two carriers, one in-phase and the other quadrature, with different amplitude levels for each carrier is the concept behind quadrature amplitude modulation (QAM).</a:t>
            </a:r>
          </a:p>
        </p:txBody>
      </p:sp>
    </p:spTree>
    <p:extLst>
      <p:ext uri="{BB962C8B-B14F-4D97-AF65-F5344CB8AC3E}">
        <p14:creationId xmlns:p14="http://schemas.microsoft.com/office/powerpoint/2010/main" val="351769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Constellation diagrams for some QAMs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DC2212F-A62D-4DE5-9126-249CC3D76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79" y="2200411"/>
            <a:ext cx="3698721" cy="202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36E6CDB4-B602-4142-8C05-983364862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006" y="2200411"/>
            <a:ext cx="3698721" cy="202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7FE0A71-3413-4A2B-8301-F4C4E82A8942}"/>
                  </a:ext>
                </a:extLst>
              </p:cNvPr>
              <p:cNvSpPr/>
              <p:nvPr/>
            </p:nvSpPr>
            <p:spPr>
              <a:xfrm>
                <a:off x="1518509" y="5260439"/>
                <a:ext cx="6902245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𝐿𝑜𝑔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40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US" sz="140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140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40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US" sz="1400" dirty="0">
                    <a:solidFill>
                      <a:schemeClr val="bg2"/>
                    </a:solidFill>
                  </a:rPr>
                  <a:t> per symbol</a:t>
                </a:r>
              </a:p>
              <a:p>
                <a:r>
                  <a:rPr lang="en-US" sz="1400" dirty="0">
                    <a:solidFill>
                      <a:schemeClr val="bg2"/>
                    </a:solidFill>
                  </a:rPr>
                  <a:t>Here, M is the number of distinct symbol </a:t>
                </a:r>
              </a:p>
              <a:p>
                <a:r>
                  <a:rPr lang="en-US" sz="1600" b="1" dirty="0">
                    <a:solidFill>
                      <a:schemeClr val="bg2"/>
                    </a:solidFill>
                  </a:rPr>
                  <a:t>Example: </a:t>
                </a:r>
                <a:r>
                  <a:rPr lang="en-US" sz="1400" dirty="0">
                    <a:solidFill>
                      <a:schemeClr val="bg2"/>
                    </a:solidFill>
                  </a:rPr>
                  <a:t>For 16 QAM,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𝐿𝑜𝑔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en-US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𝑠𝑦𝑚𝑏𝑜𝑙</m:t>
                    </m:r>
                  </m:oMath>
                </a14:m>
                <a:r>
                  <a:rPr lang="en-US" sz="1400" dirty="0">
                    <a:solidFill>
                      <a:schemeClr val="bg2"/>
                    </a:solidFill>
                  </a:rPr>
                  <a:t>, means each red dot encodes 4 bits.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7FE0A71-3413-4A2B-8301-F4C4E82A89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509" y="5260439"/>
                <a:ext cx="6902245" cy="769441"/>
              </a:xfrm>
              <a:prstGeom prst="rect">
                <a:avLst/>
              </a:prstGeom>
              <a:blipFill>
                <a:blip r:embed="rId4"/>
                <a:stretch>
                  <a:fillRect l="-442" t="-1587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6AFCE97-090A-9F7F-1F29-FB10DFF4A1AB}"/>
              </a:ext>
            </a:extLst>
          </p:cNvPr>
          <p:cNvSpPr txBox="1"/>
          <p:nvPr/>
        </p:nvSpPr>
        <p:spPr>
          <a:xfrm>
            <a:off x="926892" y="4222886"/>
            <a:ext cx="3556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4-QAM </a:t>
            </a:r>
          </a:p>
          <a:p>
            <a:r>
              <a:rPr lang="en-US" sz="1400" b="1" dirty="0">
                <a:solidFill>
                  <a:schemeClr val="bg2"/>
                </a:solidFill>
              </a:rPr>
              <a:t>Number of symbols or signal element:</a:t>
            </a:r>
            <a:r>
              <a:rPr lang="en-US" sz="1400" dirty="0">
                <a:solidFill>
                  <a:schemeClr val="bg2"/>
                </a:solidFill>
              </a:rPr>
              <a:t> 4</a:t>
            </a:r>
          </a:p>
          <a:p>
            <a:r>
              <a:rPr lang="en-US" sz="1400" b="1" dirty="0">
                <a:solidFill>
                  <a:schemeClr val="bg2"/>
                </a:solidFill>
              </a:rPr>
              <a:t>Bits per symbol:</a:t>
            </a:r>
            <a:r>
              <a:rPr lang="en-US" sz="1400" dirty="0">
                <a:solidFill>
                  <a:schemeClr val="bg2"/>
                </a:solidFill>
              </a:rPr>
              <a:t> 2 bits </a:t>
            </a:r>
          </a:p>
          <a:p>
            <a:r>
              <a:rPr lang="en-US" sz="1400" b="1" dirty="0">
                <a:solidFill>
                  <a:schemeClr val="bg2"/>
                </a:solidFill>
              </a:rPr>
              <a:t>Constellation diagram:</a:t>
            </a:r>
            <a:r>
              <a:rPr lang="en-US" sz="1400" dirty="0">
                <a:solidFill>
                  <a:schemeClr val="bg2"/>
                </a:solidFill>
              </a:rPr>
              <a:t> 4 points</a:t>
            </a:r>
          </a:p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E8EA7C-DE55-2B64-74E2-B87C4AD8C5B2}"/>
              </a:ext>
            </a:extLst>
          </p:cNvPr>
          <p:cNvSpPr txBox="1"/>
          <p:nvPr/>
        </p:nvSpPr>
        <p:spPr>
          <a:xfrm>
            <a:off x="5508907" y="4222886"/>
            <a:ext cx="3238835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16-QAM</a:t>
            </a:r>
          </a:p>
          <a:p>
            <a:r>
              <a:rPr lang="en-US" sz="1400" b="1" dirty="0">
                <a:solidFill>
                  <a:schemeClr val="bg2"/>
                </a:solidFill>
              </a:rPr>
              <a:t>Number of symbols or signal element:</a:t>
            </a:r>
            <a:r>
              <a:rPr lang="en-US" sz="1400" dirty="0">
                <a:solidFill>
                  <a:schemeClr val="bg2"/>
                </a:solidFill>
              </a:rPr>
              <a:t> 16</a:t>
            </a:r>
          </a:p>
          <a:p>
            <a:r>
              <a:rPr lang="en-US" sz="1400" b="1" dirty="0">
                <a:solidFill>
                  <a:schemeClr val="bg2"/>
                </a:solidFill>
              </a:rPr>
              <a:t>Bits per symbol:</a:t>
            </a:r>
            <a:r>
              <a:rPr lang="en-US" sz="1400" dirty="0">
                <a:solidFill>
                  <a:schemeClr val="bg2"/>
                </a:solidFill>
              </a:rPr>
              <a:t> 4 bits </a:t>
            </a:r>
          </a:p>
          <a:p>
            <a:r>
              <a:rPr lang="en-US" sz="1400" b="1" dirty="0">
                <a:solidFill>
                  <a:schemeClr val="bg2"/>
                </a:solidFill>
              </a:rPr>
              <a:t>Constellation diagram:</a:t>
            </a:r>
            <a:r>
              <a:rPr lang="en-US" sz="1400" dirty="0">
                <a:solidFill>
                  <a:schemeClr val="bg2"/>
                </a:solidFill>
              </a:rPr>
              <a:t> 16 points.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55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Constellation diagrams for some QAMs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Figure 5.14 shows some of these schemes. Figure 5.14a shows the simplest 4-QAM scheme using a unipolar NRZ signal to modulate each carrier. This is the same mechanism we used for ASK (OOK).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Part b shows another 4-QAM using polar NRZ, but this is the same as QPSK.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6E18181-AFF3-439C-A256-91CDA58EC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276" y="4734451"/>
            <a:ext cx="3067447" cy="139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804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Constellation diagrams for some QAMs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Part c shows another QAM-4 in which we used a signal with two positive levels to modulate each of the two carriers.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Finally, Figure 5.14d shows a 16-QAM constellation of a signal with eight levels, four positive and four negative.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2DFA956-C1DF-4749-90E2-E6C1F5C90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173" y="4745621"/>
            <a:ext cx="3077653" cy="1396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58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3F1C1-37FB-944C-E284-2FEE992455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algn="l"/>
                <a:r>
                  <a:rPr lang="en-US" dirty="0"/>
                  <a:t>SNR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Relation with BER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3F1C1-37FB-944C-E284-2FEE992455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47" b="-6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C0E813A-F4E2-726C-D074-12A160FE7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64" y="1818008"/>
            <a:ext cx="5907088" cy="48384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F771A4-7AFD-E559-7AF4-88F2C96DC9B3}"/>
                  </a:ext>
                </a:extLst>
              </p:cNvPr>
              <p:cNvSpPr txBox="1"/>
              <p:nvPr/>
            </p:nvSpPr>
            <p:spPr>
              <a:xfrm>
                <a:off x="6191251" y="2800350"/>
                <a:ext cx="2543174" cy="2182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/>
                    </a:solidFill>
                  </a:rPr>
                  <a:t>Bit error rate (BER): Ratio between error bit and total transmitted bit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/>
                    </a:solidFill>
                  </a:rPr>
                  <a:t>BER is a function of SNR or SNR per bit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F771A4-7AFD-E559-7AF4-88F2C96D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51" y="2800350"/>
                <a:ext cx="2543174" cy="2182008"/>
              </a:xfrm>
              <a:prstGeom prst="rect">
                <a:avLst/>
              </a:prstGeom>
              <a:blipFill>
                <a:blip r:embed="rId4"/>
                <a:stretch>
                  <a:fillRect l="-1679" t="-1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961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818B8B-83A3-C319-F6B6-3935A0E198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algn="l"/>
                <a:r>
                  <a:rPr lang="en-US" dirty="0"/>
                  <a:t>Probability of bit error versus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818B8B-83A3-C319-F6B6-3935A0E198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47" b="-6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79FFABF-49EB-FE3B-CFE3-7583FB802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6" y="2114814"/>
            <a:ext cx="8150941" cy="442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7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7F1A-4493-41C1-744B-527C10DE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BER in AWGN for BPSK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7670E-27DE-7A68-82B7-88C43A9E8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0403" y="2038349"/>
                <a:ext cx="8114972" cy="4581525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, and Gaussian noise </a:t>
                </a:r>
                <a14:m>
                  <m:oMath xmlns:m="http://schemas.openxmlformats.org/officeDocument/2006/math">
                    <m:r>
                      <a:rPr lang="en-IE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E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E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E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E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IE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E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IE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E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E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E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e>
                          <m:sup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, 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rad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r>
                  <a:rPr lang="en-IE" dirty="0">
                    <a:solidFill>
                      <a:schemeClr val="bg2"/>
                    </a:solidFill>
                  </a:rPr>
                  <a:t>Decision rule:</a:t>
                </a:r>
                <a:endParaRPr lang="en-US" dirty="0">
                  <a:solidFill>
                    <a:schemeClr val="bg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ˆ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IE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I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I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r>
                  <a:rPr lang="en-US" dirty="0">
                    <a:solidFill>
                      <a:schemeClr val="bg2"/>
                    </a:solidFill>
                  </a:rPr>
                  <a:t>Assume 0 bit is sent, thus,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.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means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, and there will be bit error (0 bit will change to 1). </a:t>
                </a:r>
              </a:p>
              <a:p>
                <a:r>
                  <a:rPr lang="en-US" dirty="0">
                    <a:solidFill>
                      <a:schemeClr val="bg2"/>
                    </a:solidFill>
                  </a:rPr>
                  <a:t>Probability of bit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  <m:aln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</m:e>
                    </m:nary>
                    <m:f>
                      <m:f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7670E-27DE-7A68-82B7-88C43A9E8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403" y="2038349"/>
                <a:ext cx="8114972" cy="4581525"/>
              </a:xfrm>
              <a:blipFill>
                <a:blip r:embed="rId2"/>
                <a:stretch>
                  <a:fillRect l="-450" t="-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6678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E821-CF33-926D-5025-B4E79B2B5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BER in AWGN for BPSK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04B10-B396-519E-F0BD-9806C0542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103" y="1971675"/>
                <a:ext cx="8086397" cy="3992563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grow m:val="on"/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sub>
                      <m:sup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</m:e>
                    </m:nary>
                    <m:f>
                      <m:f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considering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e>
                    </m:d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r>
                  <a:rPr lang="en-US" b="1" dirty="0">
                    <a:solidFill>
                      <a:schemeClr val="bg2"/>
                    </a:solidFill>
                  </a:rPr>
                  <a:t>Thus, BER for BPSK,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b="1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d>
                      <m:dPr>
                        <m:ctrlP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d>
                      <m:dPr>
                        <m:ctrlP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num>
                          <m:den>
                            <m:r>
                              <a:rPr lang="en-US" b="1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den>
                        </m:f>
                      </m:e>
                    </m:d>
                    <m:r>
                      <a:rPr lang="en-US" b="1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  <m:r>
                      <a:rPr lang="en-US" b="1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1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b="1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bg2"/>
                  </a:solidFill>
                </a:endParaRPr>
              </a:p>
              <a:p>
                <a:r>
                  <a:rPr lang="en-US" dirty="0">
                    <a:solidFill>
                      <a:schemeClr val="bg2"/>
                    </a:solidFill>
                  </a:rPr>
                  <a:t>Here, Q(.) is the Q-table of Gaussian PDF integral for given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04B10-B396-519E-F0BD-9806C0542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103" y="1971675"/>
                <a:ext cx="8086397" cy="3992563"/>
              </a:xfrm>
              <a:blipFill>
                <a:blip r:embed="rId2"/>
                <a:stretch>
                  <a:fillRect l="-679" t="-153" b="-2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819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E1201ED-E61C-DE62-3A7C-5CC7403E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A1A94F-D4CC-DAA3-88A3-2ED4A9E24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6418"/>
          <a:stretch>
            <a:fillRect/>
          </a:stretch>
        </p:blipFill>
        <p:spPr>
          <a:xfrm>
            <a:off x="0" y="3156436"/>
            <a:ext cx="9144000" cy="3701564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00616B-7CFA-F89B-376F-12989961CCD1}"/>
                  </a:ext>
                </a:extLst>
              </p:cNvPr>
              <p:cNvSpPr txBox="1"/>
              <p:nvPr/>
            </p:nvSpPr>
            <p:spPr>
              <a:xfrm>
                <a:off x="461759" y="1679108"/>
                <a:ext cx="8220126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Problem: </a:t>
                </a:r>
                <a:r>
                  <a:rPr lang="en-US" dirty="0">
                    <a:solidFill>
                      <a:schemeClr val="bg2"/>
                    </a:solidFill>
                  </a:rPr>
                  <a:t>Find the bit error probability for a BPSK system with a bit rate of 1 Mbit/s. The received waveforms are and , which are coherently detected using a matched filter. The value of the signal amplitude is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nor/>
                      </m:rPr>
                      <a:rPr lang="en-US" b="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mV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. Assume that the single-sided noise power spectral density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nor/>
                      </m:rPr>
                      <a:rPr lang="ar-AE" b="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b="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b="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, and that the signal power and energy per bit are normalized with respect to a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b="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l-GR" b="0" i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load.</a:t>
                </a:r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00616B-7CFA-F89B-376F-12989961C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59" y="1679108"/>
                <a:ext cx="8220126" cy="1477328"/>
              </a:xfrm>
              <a:prstGeom prst="rect">
                <a:avLst/>
              </a:prstGeom>
              <a:blipFill>
                <a:blip r:embed="rId3"/>
                <a:stretch>
                  <a:fillRect l="-668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319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838CE-EDAD-7622-0D6E-AD468D44C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 in Terms of Modulation Order ‘M’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12DF8CF2-815F-F3D4-4E45-E52D99F3415E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84164" y="1887409"/>
              <a:ext cx="4659312" cy="464674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53280">
                      <a:extLst>
                        <a:ext uri="{9D8B030D-6E8A-4147-A177-3AD203B41FA5}">
                          <a16:colId xmlns:a16="http://schemas.microsoft.com/office/drawing/2014/main" val="2551227135"/>
                        </a:ext>
                      </a:extLst>
                    </a:gridCol>
                    <a:gridCol w="3406032">
                      <a:extLst>
                        <a:ext uri="{9D8B030D-6E8A-4147-A177-3AD203B41FA5}">
                          <a16:colId xmlns:a16="http://schemas.microsoft.com/office/drawing/2014/main" val="2065206468"/>
                        </a:ext>
                      </a:extLst>
                    </a:gridCol>
                  </a:tblGrid>
                  <a:tr h="53650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Modulation type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solidFill>
                                <a:schemeClr val="bg2"/>
                              </a:solidFill>
                              <a:effectLst/>
                            </a:rPr>
                            <a:t>BER Equation in AWGN</a:t>
                          </a:r>
                          <a:endParaRPr lang="en-US" sz="1400" kern="10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57757927"/>
                      </a:ext>
                    </a:extLst>
                  </a:tr>
                  <a:tr h="140546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M-PSK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 smtClean="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BER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PSK</m:t>
                                    </m:r>
                                  </m:sub>
                                </m:sSub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f>
                                  <m:f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400" b="0" i="0" kern="100" smtClean="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𝐸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rad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d>
                                      <m:dPr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 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82656190"/>
                      </a:ext>
                    </a:extLst>
                  </a:tr>
                  <a:tr h="155828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solidFill>
                                <a:schemeClr val="bg2"/>
                              </a:solidFill>
                              <a:effectLst/>
                            </a:rPr>
                            <a:t>M-QAM</a:t>
                          </a:r>
                          <a:endParaRPr lang="en-US" sz="1400" kern="10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 smtClean="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BER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QAM</m:t>
                                    </m:r>
                                  </m:sub>
                                </m:sSub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f>
                                  <m:f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f>
                                      <m:fPr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rad>
                                      </m:den>
                                    </m:f>
                                  </m:e>
                                </m:d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den>
                                        </m:f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𝐸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rad>
                                  </m:e>
                                </m:d>
                              </m:oMath>
                            </m:oMathPara>
                          </a14:m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 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49126099"/>
                      </a:ext>
                    </a:extLst>
                  </a:tr>
                  <a:tr h="114648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M-ASK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 smtClean="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BER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400" b="0" i="0" kern="100" smtClean="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ASK</m:t>
                                    </m:r>
                                  </m:sub>
                                </m:sSub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f>
                                  <m:f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2(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num>
                                  <m:den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den>
                                        </m:f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𝐸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rad>
                                  </m:e>
                                </m:d>
                              </m:oMath>
                            </m:oMathPara>
                          </a14:m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637214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12DF8CF2-815F-F3D4-4E45-E52D99F3415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62415292"/>
                  </p:ext>
                </p:extLst>
              </p:nvPr>
            </p:nvGraphicFramePr>
            <p:xfrm>
              <a:off x="284164" y="1887409"/>
              <a:ext cx="4659312" cy="464674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53280">
                      <a:extLst>
                        <a:ext uri="{9D8B030D-6E8A-4147-A177-3AD203B41FA5}">
                          <a16:colId xmlns:a16="http://schemas.microsoft.com/office/drawing/2014/main" val="2551227135"/>
                        </a:ext>
                      </a:extLst>
                    </a:gridCol>
                    <a:gridCol w="3406032">
                      <a:extLst>
                        <a:ext uri="{9D8B030D-6E8A-4147-A177-3AD203B41FA5}">
                          <a16:colId xmlns:a16="http://schemas.microsoft.com/office/drawing/2014/main" val="2065206468"/>
                        </a:ext>
                      </a:extLst>
                    </a:gridCol>
                  </a:tblGrid>
                  <a:tr h="53650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Modulation type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solidFill>
                                <a:schemeClr val="bg2"/>
                              </a:solidFill>
                              <a:effectLst/>
                            </a:rPr>
                            <a:t>BER Equation in AWGN</a:t>
                          </a:r>
                          <a:endParaRPr lang="en-US" sz="1400" kern="10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57757927"/>
                      </a:ext>
                    </a:extLst>
                  </a:tr>
                  <a:tr h="140546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M-PSK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7030" t="-41558" r="-894" b="-1930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2656190"/>
                      </a:ext>
                    </a:extLst>
                  </a:tr>
                  <a:tr h="155828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solidFill>
                                <a:schemeClr val="bg2"/>
                              </a:solidFill>
                              <a:effectLst/>
                            </a:rPr>
                            <a:t>M-QAM</a:t>
                          </a:r>
                          <a:endParaRPr lang="en-US" sz="1400" kern="10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7030" t="-127734" r="-894" b="-742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9126099"/>
                      </a:ext>
                    </a:extLst>
                  </a:tr>
                  <a:tr h="114648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M-ASK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7030" t="-310106" r="-89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372141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D6D09DC-8986-2B21-A84F-F1B37CF31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774" y="2657474"/>
            <a:ext cx="3210373" cy="284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29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to Analog Conversion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Analog-to-analog conversion, or analog modulation, is the representation of analog information by an analog signal. One may ask why we need to modulate an analog signal; it is already analog. Modulation is needed if the medium is bandpass in nature or if only a bandpass channel is available to us. Analog-to-analog conversion can be accomplished in three ways: AM FM and PM.</a:t>
            </a:r>
          </a:p>
        </p:txBody>
      </p:sp>
    </p:spTree>
    <p:extLst>
      <p:ext uri="{BB962C8B-B14F-4D97-AF65-F5344CB8AC3E}">
        <p14:creationId xmlns:p14="http://schemas.microsoft.com/office/powerpoint/2010/main" val="3263862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to Analog Conversion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0E3D4-A30E-4522-A848-808E1763CFA6}"/>
              </a:ext>
            </a:extLst>
          </p:cNvPr>
          <p:cNvSpPr/>
          <p:nvPr/>
        </p:nvSpPr>
        <p:spPr>
          <a:xfrm>
            <a:off x="1575582" y="5366828"/>
            <a:ext cx="59928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5.15:  Types of analog-to-analog modulation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DE25124-9556-4BB5-9AF0-512C5A985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7" y="2772159"/>
            <a:ext cx="8391525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549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Amplitude Modulation (AM)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 AM transmission, the carrier signal is modulated so that its amplitude varies with the changing amplitudes of the modulating signal.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frequency and phase of the carrier remain the same; only the amplitude changes to follow variations in the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Figure 5.16 shows how this concept works.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modulating signal is the envelope of the carrier.</a:t>
            </a:r>
          </a:p>
        </p:txBody>
      </p:sp>
    </p:spTree>
    <p:extLst>
      <p:ext uri="{BB962C8B-B14F-4D97-AF65-F5344CB8AC3E}">
        <p14:creationId xmlns:p14="http://schemas.microsoft.com/office/powerpoint/2010/main" val="251165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Amplitude Modulation (AM)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As Figure 5.16 shows, AM is normally implemented by using a simple multiplier because the amplitude of the carrier signal needs to be changed according to the amplitude of the modulating signal.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BC00C3-1BCF-4D0C-88C5-84E76238ED11}"/>
              </a:ext>
            </a:extLst>
          </p:cNvPr>
          <p:cNvGrpSpPr/>
          <p:nvPr/>
        </p:nvGrpSpPr>
        <p:grpSpPr>
          <a:xfrm>
            <a:off x="1485303" y="4019361"/>
            <a:ext cx="6247021" cy="2106803"/>
            <a:chOff x="1485303" y="4019361"/>
            <a:chExt cx="6247021" cy="2106803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30CEC39-381C-49A2-9476-C21873F56C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5303" y="4019361"/>
              <a:ext cx="2903631" cy="21068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31375CAD-607D-4210-8FB4-9A4B9498F8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9386" y="4019361"/>
              <a:ext cx="2002938" cy="21068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DB71879-6EF6-42CF-BEC8-898FD04A95FF}"/>
              </a:ext>
            </a:extLst>
          </p:cNvPr>
          <p:cNvSpPr/>
          <p:nvPr/>
        </p:nvSpPr>
        <p:spPr>
          <a:xfrm>
            <a:off x="2937118" y="6389624"/>
            <a:ext cx="3515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Figure 5.16:  Amplitude modulation</a:t>
            </a:r>
          </a:p>
        </p:txBody>
      </p:sp>
    </p:spTree>
    <p:extLst>
      <p:ext uri="{BB962C8B-B14F-4D97-AF65-F5344CB8AC3E}">
        <p14:creationId xmlns:p14="http://schemas.microsoft.com/office/powerpoint/2010/main" val="458469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Amplitude Modulation (AM)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An increase in the amplitude of the modulating signal causes the amplitude of the carrier to increase.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An increase or a decrease in the amplitude of the modulating signal causes a corresponding increase or decrease in both the positive and the negative peaks of the carrier amplitude.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An imaginary line connecting the positive peaks and negative peaks of the carrier waveform (the dashed line in the figure) gives the exact shape of the modulating information signal.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This imaginary line on the carrier waveform is known as the envelope.</a:t>
            </a:r>
          </a:p>
        </p:txBody>
      </p:sp>
    </p:spTree>
    <p:extLst>
      <p:ext uri="{BB962C8B-B14F-4D97-AF65-F5344CB8AC3E}">
        <p14:creationId xmlns:p14="http://schemas.microsoft.com/office/powerpoint/2010/main" val="1291703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 Modulation (FM)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 FM transmission, the frequency of the carrier signal is modulated to follow the changing voltage level (amplitude) of the modulating signal.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peak amplitude and phase of the carrier signal remain constant, but as the amplitude of the information signal changes, the frequency of the carrier changes correspondingly.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Figure 5.18 shows the relationships of the modulating signal, the carrier signal, and the resultant FM signal.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B71879-6EF6-42CF-BEC8-898FD04A95FF}"/>
              </a:ext>
            </a:extLst>
          </p:cNvPr>
          <p:cNvSpPr/>
          <p:nvPr/>
        </p:nvSpPr>
        <p:spPr>
          <a:xfrm>
            <a:off x="2937118" y="6389624"/>
            <a:ext cx="3515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Figure 5.16:  Amplitude modulation</a:t>
            </a:r>
          </a:p>
        </p:txBody>
      </p:sp>
    </p:spTree>
    <p:extLst>
      <p:ext uri="{BB962C8B-B14F-4D97-AF65-F5344CB8AC3E}">
        <p14:creationId xmlns:p14="http://schemas.microsoft.com/office/powerpoint/2010/main" val="2340551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 Modulation (FM)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DB927C-5828-4388-8EB6-2BD86B230E3B}"/>
              </a:ext>
            </a:extLst>
          </p:cNvPr>
          <p:cNvGrpSpPr/>
          <p:nvPr/>
        </p:nvGrpSpPr>
        <p:grpSpPr>
          <a:xfrm>
            <a:off x="870560" y="2463038"/>
            <a:ext cx="7190489" cy="2444309"/>
            <a:chOff x="476205" y="2789013"/>
            <a:chExt cx="7190489" cy="2444309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91C75732-BB86-480A-89ED-57215865C7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05" y="2789013"/>
              <a:ext cx="3515387" cy="2444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7B47D74F-DBF0-40EB-9927-DF109DFD9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8314" y="3100481"/>
              <a:ext cx="2428380" cy="2126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6A2F0135-D373-4A90-8FC1-75FD979DACFC}"/>
              </a:ext>
            </a:extLst>
          </p:cNvPr>
          <p:cNvSpPr/>
          <p:nvPr/>
        </p:nvSpPr>
        <p:spPr>
          <a:xfrm>
            <a:off x="2568040" y="5239000"/>
            <a:ext cx="3515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Figure 5.18:  Frequency modulation</a:t>
            </a:r>
          </a:p>
        </p:txBody>
      </p:sp>
    </p:spTree>
    <p:extLst>
      <p:ext uri="{BB962C8B-B14F-4D97-AF65-F5344CB8AC3E}">
        <p14:creationId xmlns:p14="http://schemas.microsoft.com/office/powerpoint/2010/main" val="3610353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 Modulation (PM)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 PM transmission, the phase of the carrier signal is modulated to follow the changing voltage level (amplitude) of the modulating signal.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peak amplitude and frequency of the carrier signal remain constant, but as the amplitude of the information signal changes, the phase of the carrier changes correspondingly.</a:t>
            </a:r>
          </a:p>
        </p:txBody>
      </p:sp>
    </p:spTree>
    <p:extLst>
      <p:ext uri="{BB962C8B-B14F-4D97-AF65-F5344CB8AC3E}">
        <p14:creationId xmlns:p14="http://schemas.microsoft.com/office/powerpoint/2010/main" val="3034183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Multiplexing is the set of techniques that allows the simultaneous transmission of multiple signals across a single data link.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As data and telecommunications use increases, so does traffic. We can accommodate this increase by continuing to add individual links each time a new channel is needed, or we can install higher-bandwidth links and use each to carry multiple signals. </a:t>
            </a:r>
          </a:p>
        </p:txBody>
      </p:sp>
    </p:spTree>
    <p:extLst>
      <p:ext uri="{BB962C8B-B14F-4D97-AF65-F5344CB8AC3E}">
        <p14:creationId xmlns:p14="http://schemas.microsoft.com/office/powerpoint/2010/main" val="1177337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FECA2D-C4D1-4AF0-A181-1A8A58A8BC91}"/>
              </a:ext>
            </a:extLst>
          </p:cNvPr>
          <p:cNvGrpSpPr/>
          <p:nvPr/>
        </p:nvGrpSpPr>
        <p:grpSpPr>
          <a:xfrm>
            <a:off x="511152" y="2939244"/>
            <a:ext cx="8312150" cy="1874838"/>
            <a:chOff x="457200" y="2514600"/>
            <a:chExt cx="8312150" cy="1874838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5A26A70B-1E35-4B67-8909-2FD7506969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2514600"/>
              <a:ext cx="8312150" cy="1874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BD03E180-7EC2-41BD-B216-A06FA5609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1813" y="3535363"/>
              <a:ext cx="30829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DEDCEE8-FABE-425E-907B-40177158CEF5}"/>
              </a:ext>
            </a:extLst>
          </p:cNvPr>
          <p:cNvSpPr/>
          <p:nvPr/>
        </p:nvSpPr>
        <p:spPr>
          <a:xfrm>
            <a:off x="2518369" y="5225875"/>
            <a:ext cx="42977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6.1:  Dividing a link into channels</a:t>
            </a:r>
          </a:p>
        </p:txBody>
      </p:sp>
    </p:spTree>
    <p:extLst>
      <p:ext uri="{BB962C8B-B14F-4D97-AF65-F5344CB8AC3E}">
        <p14:creationId xmlns:p14="http://schemas.microsoft.com/office/powerpoint/2010/main" val="2528081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934A92C0-EAB7-40EC-B018-76163271E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2390775"/>
            <a:ext cx="831850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F4ABDC-5D47-4F5C-8268-031D92011F5D}"/>
              </a:ext>
            </a:extLst>
          </p:cNvPr>
          <p:cNvSpPr/>
          <p:nvPr/>
        </p:nvSpPr>
        <p:spPr>
          <a:xfrm>
            <a:off x="2609484" y="5325573"/>
            <a:ext cx="41154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6.2:  Categories of multiplexing</a:t>
            </a:r>
          </a:p>
        </p:txBody>
      </p:sp>
    </p:spTree>
    <p:extLst>
      <p:ext uri="{BB962C8B-B14F-4D97-AF65-F5344CB8AC3E}">
        <p14:creationId xmlns:p14="http://schemas.microsoft.com/office/powerpoint/2010/main" val="3719827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Frequency-division multiplexing (FDM) is an analog technique that can be applied when the bandwidth of a link (in hertz) is greater than the combined bandwidths of the signals to be transmitted.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In FDM, signals generated by each sending device modulate different carrier frequencies.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These modulated signals are then combined into a single composite signal that can be transported by the link. </a:t>
            </a:r>
          </a:p>
        </p:txBody>
      </p:sp>
    </p:spTree>
    <p:extLst>
      <p:ext uri="{BB962C8B-B14F-4D97-AF65-F5344CB8AC3E}">
        <p14:creationId xmlns:p14="http://schemas.microsoft.com/office/powerpoint/2010/main" val="4176575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1C19D76-3AC3-424A-8218-3F7A8F84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2590800"/>
            <a:ext cx="74422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3758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FDM Process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Figure 6.4 is a conceptual illustration of the multiplexing process.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Each source generates a signal of a similar frequency range.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Inside the multiplexer, these similar signals modulate different carrier frequencies ( f1, f2, and f3).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resulting modulated signals are then combined into a single composite signal that is sent out over a media link that has enough bandwidth to accommodate it.</a:t>
            </a:r>
          </a:p>
        </p:txBody>
      </p:sp>
    </p:spTree>
    <p:extLst>
      <p:ext uri="{BB962C8B-B14F-4D97-AF65-F5344CB8AC3E}">
        <p14:creationId xmlns:p14="http://schemas.microsoft.com/office/powerpoint/2010/main" val="1079503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FDM Process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F338EB-179E-4B55-BDF6-DF0F0817D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2274618"/>
            <a:ext cx="6731000" cy="3050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7351BC-C95A-4333-A9FE-DCC2F01B28C6}"/>
              </a:ext>
            </a:extLst>
          </p:cNvPr>
          <p:cNvSpPr/>
          <p:nvPr/>
        </p:nvSpPr>
        <p:spPr>
          <a:xfrm>
            <a:off x="2981475" y="5521922"/>
            <a:ext cx="27435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6.4:  FDM Process</a:t>
            </a:r>
          </a:p>
        </p:txBody>
      </p:sp>
    </p:spTree>
    <p:extLst>
      <p:ext uri="{BB962C8B-B14F-4D97-AF65-F5344CB8AC3E}">
        <p14:creationId xmlns:p14="http://schemas.microsoft.com/office/powerpoint/2010/main" val="3838112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FDM Demultiplexing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demultiplexer uses a series of filters to decompose the multiplexed signal into its constituent component signals.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individual signals are then passed to a demodulator that separates them from their carriers and passes them to the output lines.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Figure 6.5 is a conceptual illustration of demultiplexing process.</a:t>
            </a:r>
          </a:p>
        </p:txBody>
      </p:sp>
    </p:spTree>
    <p:extLst>
      <p:ext uri="{BB962C8B-B14F-4D97-AF65-F5344CB8AC3E}">
        <p14:creationId xmlns:p14="http://schemas.microsoft.com/office/powerpoint/2010/main" val="1522961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FDM Demultiplexing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E925C13-A167-4CA4-9774-FEF224B0B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33" y="2275986"/>
            <a:ext cx="6540256" cy="2822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B8A89D-450D-43C5-B219-968E0490C89C}"/>
              </a:ext>
            </a:extLst>
          </p:cNvPr>
          <p:cNvSpPr/>
          <p:nvPr/>
        </p:nvSpPr>
        <p:spPr>
          <a:xfrm>
            <a:off x="2105413" y="5519852"/>
            <a:ext cx="44408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6.5:  FDM demultiplexing example</a:t>
            </a:r>
          </a:p>
        </p:txBody>
      </p:sp>
    </p:spTree>
    <p:extLst>
      <p:ext uri="{BB962C8B-B14F-4D97-AF65-F5344CB8AC3E}">
        <p14:creationId xmlns:p14="http://schemas.microsoft.com/office/powerpoint/2010/main" val="1882335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</a:rPr>
              <a:t>Example 6.1:</a:t>
            </a:r>
            <a:r>
              <a:rPr lang="en-US" sz="2400" dirty="0">
                <a:solidFill>
                  <a:schemeClr val="bg2"/>
                </a:solidFill>
              </a:rPr>
              <a:t> Assume that a voice channel occupies a bandwidth of 4 kHz. We need to combine three voice channels into a link with a bandwidth of 12 kHz, from 20 to 32 kHz. Show the configuration, using the frequency domain. Assume there are no guard bands.</a:t>
            </a:r>
          </a:p>
          <a:p>
            <a:endParaRPr lang="en-US" sz="800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Solution: </a:t>
            </a:r>
            <a:r>
              <a:rPr lang="en-US" sz="2400" dirty="0">
                <a:solidFill>
                  <a:schemeClr val="bg2"/>
                </a:solidFill>
              </a:rPr>
              <a:t>We shift (modulate) each of the three voice channels to a different bandwidth, as shown in the figure,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43E33DD-3C06-4E61-9830-2A5792DB2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388" y="4891267"/>
            <a:ext cx="5762474" cy="1234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764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</a:rPr>
              <a:t>Example 6.1:</a:t>
            </a:r>
            <a:r>
              <a:rPr lang="en-US" sz="2400" dirty="0">
                <a:solidFill>
                  <a:schemeClr val="bg2"/>
                </a:solidFill>
              </a:rPr>
              <a:t> Five channels, each with a 100-kHz bandwidth, are to be multiplexed together. What is the minimum bandwidth of the link if there is a need for a guard band of 10 kHz between the channels to prevent interference?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Solution:</a:t>
            </a:r>
            <a:r>
              <a:rPr lang="en-US" sz="2400" dirty="0">
                <a:solidFill>
                  <a:schemeClr val="bg2"/>
                </a:solidFill>
              </a:rPr>
              <a:t> For five channels, we need at least four guard bands. This means that the required bandwidth is at least 5 × 100 + 4 × 10 = 540 kHz, as shown in the figure.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553FB-51C7-4D28-9218-141C81133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992" y="4737272"/>
            <a:ext cx="4815840" cy="1463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981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</a:rPr>
              <a:t>Example 6.1:</a:t>
            </a:r>
            <a:r>
              <a:rPr lang="en-US" sz="2400" dirty="0">
                <a:solidFill>
                  <a:schemeClr val="bg2"/>
                </a:solidFill>
              </a:rPr>
              <a:t> Four </a:t>
            </a:r>
            <a:r>
              <a:rPr lang="en-US" sz="2400" b="1" dirty="0">
                <a:solidFill>
                  <a:schemeClr val="bg2"/>
                </a:solidFill>
              </a:rPr>
              <a:t>digital </a:t>
            </a:r>
            <a:r>
              <a:rPr lang="en-US" sz="2400" dirty="0">
                <a:solidFill>
                  <a:schemeClr val="bg2"/>
                </a:solidFill>
              </a:rPr>
              <a:t>data channels, each transmitting at 1 Mbps, use a satellite link of 1 </a:t>
            </a:r>
            <a:r>
              <a:rPr lang="en-US" sz="2400" dirty="0" err="1">
                <a:solidFill>
                  <a:schemeClr val="bg2"/>
                </a:solidFill>
              </a:rPr>
              <a:t>MHz.</a:t>
            </a:r>
            <a:r>
              <a:rPr lang="en-US" sz="2400" dirty="0">
                <a:solidFill>
                  <a:schemeClr val="bg2"/>
                </a:solidFill>
              </a:rPr>
              <a:t> Design an appropriate configuration, using FDM.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Solution: </a:t>
            </a:r>
            <a:r>
              <a:rPr lang="en-US" sz="2400" dirty="0">
                <a:solidFill>
                  <a:schemeClr val="bg2"/>
                </a:solidFill>
              </a:rPr>
              <a:t>The satellite channel is analog. We divide it into four channels, each channel having a 250-kHz bandwidth. Each digital channel of 1 Mbps is modulated so that each 4 bits is modulated to 1 Hz. Solution is 16 QAM. Figure 6.8 shows one possible configuration.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68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80572BD-62F4-4989-A9E2-C8CFD50EC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7" y="2416321"/>
            <a:ext cx="6892925" cy="313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346E60-BCFD-43A0-A823-0BF308E2F854}"/>
              </a:ext>
            </a:extLst>
          </p:cNvPr>
          <p:cNvSpPr/>
          <p:nvPr/>
        </p:nvSpPr>
        <p:spPr>
          <a:xfrm>
            <a:off x="2995176" y="5770265"/>
            <a:ext cx="26613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6.8:  Example 6.3</a:t>
            </a:r>
          </a:p>
        </p:txBody>
      </p:sp>
    </p:spTree>
    <p:extLst>
      <p:ext uri="{BB962C8B-B14F-4D97-AF65-F5344CB8AC3E}">
        <p14:creationId xmlns:p14="http://schemas.microsoft.com/office/powerpoint/2010/main" val="2597495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Hierarchy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To maximize the efficiency of their infrastructure, telephone companies have traditionally multiplexed signals from lower-bandwidth lines onto higher-bandwidth lines.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 this way, many switched lines can be combined into fewer but bigger channels. For analog lines, FDM is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One of these hierarchical systems used by telephone companies is made up of groups, supergroups, master groups, and jumbo groups (see Figure 6.9).</a:t>
            </a:r>
          </a:p>
        </p:txBody>
      </p:sp>
    </p:spTree>
    <p:extLst>
      <p:ext uri="{BB962C8B-B14F-4D97-AF65-F5344CB8AC3E}">
        <p14:creationId xmlns:p14="http://schemas.microsoft.com/office/powerpoint/2010/main" val="4056357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Hierarchy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938B8FB5-7384-40EC-8625-4D04146C8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30" y="2164084"/>
            <a:ext cx="8185170" cy="3787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346E60-BCFD-43A0-A823-0BF308E2F854}"/>
              </a:ext>
            </a:extLst>
          </p:cNvPr>
          <p:cNvSpPr/>
          <p:nvPr/>
        </p:nvSpPr>
        <p:spPr>
          <a:xfrm>
            <a:off x="2995176" y="5770265"/>
            <a:ext cx="31474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6.9:  Analog hierarchy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68CAF-ADAE-6BFE-6BEA-737D69F16E71}"/>
              </a:ext>
            </a:extLst>
          </p:cNvPr>
          <p:cNvSpPr txBox="1"/>
          <p:nvPr/>
        </p:nvSpPr>
        <p:spPr>
          <a:xfrm>
            <a:off x="2061682" y="2058362"/>
            <a:ext cx="848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 x 4=</a:t>
            </a:r>
          </a:p>
        </p:txBody>
      </p:sp>
    </p:spTree>
    <p:extLst>
      <p:ext uri="{BB962C8B-B14F-4D97-AF65-F5344CB8AC3E}">
        <p14:creationId xmlns:p14="http://schemas.microsoft.com/office/powerpoint/2010/main" val="1533294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Hierarchy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 this analog hierarchy, 12 voice channels are multiplexed onto a higher-bandwidth line to create a group. A group has 48 kHz of bandwidth and supports 12 voice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At the next level, up to five groups can be multiplexed to create a composite signal called a supergroup. A supergroup has a bandwidth of 240 kHz and supports up to 60 voice channels. Supergroups can be made up of either five groups or 60 independent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voice channels.</a:t>
            </a:r>
          </a:p>
        </p:txBody>
      </p:sp>
    </p:spTree>
    <p:extLst>
      <p:ext uri="{BB962C8B-B14F-4D97-AF65-F5344CB8AC3E}">
        <p14:creationId xmlns:p14="http://schemas.microsoft.com/office/powerpoint/2010/main" val="1870893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Hierarchy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At the next level, 10 supergroups are multiplexed to create a master group. A master group must have 2.40 MHz of bandwidth, but the need for guard bands between the supergroups increases the necessary bandwidth to 2.52 </a:t>
            </a:r>
            <a:r>
              <a:rPr lang="en-US" sz="2800" dirty="0" err="1">
                <a:solidFill>
                  <a:schemeClr val="bg2"/>
                </a:solidFill>
              </a:rPr>
              <a:t>MHz.</a:t>
            </a:r>
            <a:r>
              <a:rPr lang="en-US" sz="2800" dirty="0">
                <a:solidFill>
                  <a:schemeClr val="bg2"/>
                </a:solidFill>
              </a:rPr>
              <a:t> Master groups support up to 600 voice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Finally, six master groups can be combined into a jumbo group. A jumbo group must have 15.12 MHz (6 × 2.52 MHz) but is augmented to 16.984 MHz to allow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guard bands between the master groups.</a:t>
            </a:r>
          </a:p>
        </p:txBody>
      </p:sp>
    </p:spTree>
    <p:extLst>
      <p:ext uri="{BB962C8B-B14F-4D97-AF65-F5344CB8AC3E}">
        <p14:creationId xmlns:p14="http://schemas.microsoft.com/office/powerpoint/2010/main" val="121218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526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[1] </a:t>
            </a:r>
            <a:r>
              <a:rPr lang="en-US" dirty="0" err="1">
                <a:solidFill>
                  <a:schemeClr val="bg2"/>
                </a:solidFill>
              </a:rPr>
              <a:t>Forouzan</a:t>
            </a:r>
            <a:r>
              <a:rPr lang="en-US" dirty="0">
                <a:solidFill>
                  <a:schemeClr val="bg2"/>
                </a:solidFill>
              </a:rPr>
              <a:t> AB. Data communications &amp; networking. </a:t>
            </a:r>
          </a:p>
          <a:p>
            <a:r>
              <a:rPr lang="en-US" dirty="0">
                <a:solidFill>
                  <a:schemeClr val="bg2"/>
                </a:solidFill>
              </a:rPr>
              <a:t>      5th ed., Tata McGraw-Hill Education.</a:t>
            </a:r>
            <a:endParaRPr lang="en-FI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7688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>
                <a:solidFill>
                  <a:schemeClr val="bg2"/>
                </a:solidFill>
              </a:rPr>
              <a:t>1. Prakash C. Gupta, “Data communications”, Prentice Hall India Pvt.</a:t>
            </a:r>
          </a:p>
          <a:p>
            <a:pPr lvl="0"/>
            <a:r>
              <a:rPr lang="en-US" dirty="0">
                <a:solidFill>
                  <a:schemeClr val="bg2"/>
                </a:solidFill>
              </a:rPr>
              <a:t>2. William Stallings, "Data and Computer Communications”, Pearson</a:t>
            </a:r>
          </a:p>
          <a:p>
            <a:pPr lvl="0"/>
            <a:r>
              <a:rPr lang="en-US" dirty="0">
                <a:solidFill>
                  <a:schemeClr val="bg2"/>
                </a:solidFill>
              </a:rPr>
              <a:t>3. </a:t>
            </a:r>
            <a:r>
              <a:rPr lang="en-US" dirty="0" err="1">
                <a:solidFill>
                  <a:schemeClr val="bg2"/>
                </a:solidFill>
              </a:rPr>
              <a:t>Forouzan</a:t>
            </a:r>
            <a:r>
              <a:rPr lang="en-US" dirty="0">
                <a:solidFill>
                  <a:schemeClr val="bg2"/>
                </a:solidFill>
              </a:rPr>
              <a:t>, B. A. "Data Communication and Networking. Tata McGraw." (2005).</a:t>
            </a:r>
          </a:p>
        </p:txBody>
      </p:sp>
    </p:spTree>
    <p:extLst>
      <p:ext uri="{BB962C8B-B14F-4D97-AF65-F5344CB8AC3E}">
        <p14:creationId xmlns:p14="http://schemas.microsoft.com/office/powerpoint/2010/main" val="168555159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EE">
  <a:themeElements>
    <a:clrScheme name="Custom 11">
      <a:dk1>
        <a:srgbClr val="FF6600"/>
      </a:dk1>
      <a:lt1>
        <a:srgbClr val="FEF2E6"/>
      </a:lt1>
      <a:dk2>
        <a:srgbClr val="FFA347"/>
      </a:dk2>
      <a:lt2>
        <a:srgbClr val="000000"/>
      </a:lt2>
      <a:accent1>
        <a:srgbClr val="FFFF00"/>
      </a:accent1>
      <a:accent2>
        <a:srgbClr val="FFA347"/>
      </a:accent2>
      <a:accent3>
        <a:srgbClr val="FF6600"/>
      </a:accent3>
      <a:accent4>
        <a:srgbClr val="FF6600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EEE" id="{7085EFE6-1651-4882-93F2-4A2A6E95977E}" vid="{54A24EE4-6E88-485C-AF6E-3EB622AD36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ThemeEEE</Template>
  <TotalTime>693</TotalTime>
  <Words>2010</Words>
  <Application>Microsoft Office PowerPoint</Application>
  <PresentationFormat>On-screen Show (4:3)</PresentationFormat>
  <Paragraphs>163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Aptos</vt:lpstr>
      <vt:lpstr>Arial</vt:lpstr>
      <vt:lpstr>Calibri</vt:lpstr>
      <vt:lpstr>Cambria Math</vt:lpstr>
      <vt:lpstr>Corbel</vt:lpstr>
      <vt:lpstr>Wingdings</vt:lpstr>
      <vt:lpstr>ThemeEEE</vt:lpstr>
      <vt:lpstr>Analog Transmission and Bandwidth Utilization</vt:lpstr>
      <vt:lpstr>Lecture Outline</vt:lpstr>
      <vt:lpstr>QAM</vt:lpstr>
      <vt:lpstr>Constellation diagrams for some QAMs</vt:lpstr>
      <vt:lpstr>Constellation diagrams for some QAMs</vt:lpstr>
      <vt:lpstr>Constellation diagrams for some QAMs</vt:lpstr>
      <vt:lpstr>SNR and E_b/N_0    Relation with BER</vt:lpstr>
      <vt:lpstr>Probability of bit error versus E_b/N_0  </vt:lpstr>
      <vt:lpstr>BER in AWGN for BPSK</vt:lpstr>
      <vt:lpstr>BER in AWGN for BPSK</vt:lpstr>
      <vt:lpstr>PowerPoint Presentation</vt:lpstr>
      <vt:lpstr>BER in Terms of Modulation Order ‘M’</vt:lpstr>
      <vt:lpstr>Analog to Analog Conversion</vt:lpstr>
      <vt:lpstr>Analog to Analog Conversion</vt:lpstr>
      <vt:lpstr>Amplitude Modulation (AM)</vt:lpstr>
      <vt:lpstr>Amplitude Modulation (AM)</vt:lpstr>
      <vt:lpstr>Amplitude Modulation (AM)</vt:lpstr>
      <vt:lpstr>Frequency Modulation (FM)</vt:lpstr>
      <vt:lpstr>Frequency Modulation (FM)</vt:lpstr>
      <vt:lpstr>Phase Modulation (PM)</vt:lpstr>
      <vt:lpstr>Multiplexing</vt:lpstr>
      <vt:lpstr>Multiplexing</vt:lpstr>
      <vt:lpstr>Multiplexing</vt:lpstr>
      <vt:lpstr>Frequency-Division Multiplexing</vt:lpstr>
      <vt:lpstr>Frequency-Division Multiplexing</vt:lpstr>
      <vt:lpstr>FDM Process</vt:lpstr>
      <vt:lpstr>FDM Process</vt:lpstr>
      <vt:lpstr>FDM Demultiplexing</vt:lpstr>
      <vt:lpstr>FDM Demultiplexing</vt:lpstr>
      <vt:lpstr>Frequency-Division Multiplexing</vt:lpstr>
      <vt:lpstr>Frequency-Division Multiplexing</vt:lpstr>
      <vt:lpstr>Frequency-Division Multiplexing</vt:lpstr>
      <vt:lpstr>Frequency-Division Multiplexing</vt:lpstr>
      <vt:lpstr>Analog Hierarchy</vt:lpstr>
      <vt:lpstr>Analog Hierarchy</vt:lpstr>
      <vt:lpstr>Analog Hierarchy</vt:lpstr>
      <vt:lpstr>Analog Hierarchy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Sadman Shahriar Alam</cp:lastModifiedBy>
  <cp:revision>76</cp:revision>
  <dcterms:created xsi:type="dcterms:W3CDTF">2018-12-10T17:20:29Z</dcterms:created>
  <dcterms:modified xsi:type="dcterms:W3CDTF">2026-01-04T12:53:53Z</dcterms:modified>
</cp:coreProperties>
</file>